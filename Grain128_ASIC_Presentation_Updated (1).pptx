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Inter Medium" panose="020B0604020202020204" charset="0"/>
      <p:regular r:id="rId24"/>
      <p:bold r:id="rId25"/>
      <p:italic r:id="rId26"/>
      <p:boldItalic r:id="rId27"/>
    </p:embeddedFont>
    <p:embeddedFont>
      <p:font typeface="Inter ExtraBold" panose="020B0604020202020204" charset="0"/>
      <p:bold r:id="rId28"/>
      <p:boldItalic r:id="rId29"/>
    </p:embeddedFont>
    <p:embeddedFont>
      <p:font typeface="Inter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AC87D2-8C02-4DAC-9B2F-C3ED3F33642E}">
  <a:tblStyle styleId="{CEAC87D2-8C02-4DAC-9B2F-C3ED3F3364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59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54945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9149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530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9fabc59f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9fabc59f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107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3053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4831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9777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2823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0755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040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2558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20950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2227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98935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6134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2342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9675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58325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6860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527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860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4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4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4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8575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575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0861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861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861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861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861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2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0861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861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861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861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861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9718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718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2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9718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718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3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9718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718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4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9718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718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4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8100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004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2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6860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527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860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>
            <a:lvl1pPr marL="457200" marR="0" lvl="0" indent="-28003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003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2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6860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527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860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sz="12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680" y="276120"/>
            <a:ext cx="1124640" cy="1078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09440" y="255240"/>
            <a:ext cx="1124640" cy="10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59280" y="186840"/>
            <a:ext cx="6815520" cy="15991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3"/>
          <p:cNvSpPr/>
          <p:nvPr/>
        </p:nvSpPr>
        <p:spPr>
          <a:xfrm>
            <a:off x="2017080" y="2306880"/>
            <a:ext cx="822744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7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 Design and ASIC Implementation of Integrated LFSR–NFSR Based Pseudorandom Generator Using 45 nm Technology       </a:t>
            </a:r>
            <a:endParaRPr sz="29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2111760" y="4957560"/>
            <a:ext cx="6521760" cy="1609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Under Guidance of</a:t>
            </a: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Prof.Sharmila C</a:t>
            </a: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24240" y="5813640"/>
            <a:ext cx="1860840" cy="33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7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DEPT. OF ECE, DBIT</a:t>
            </a: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131520" y="4363200"/>
            <a:ext cx="5950800" cy="222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00" tIns="41750" rIns="83500" bIns="417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None/>
            </a:pP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82120" marR="0" lvl="0" indent="-317880" algn="l" rtl="0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>
                <a:srgbClr val="000000"/>
              </a:buClr>
              <a:buSzPts val="1670"/>
              <a:buFont typeface="Calibri"/>
              <a:buAutoNum type="arabicPeriod"/>
            </a:pPr>
            <a:r>
              <a:rPr lang="en-US" sz="167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Jeevan R                        -1DB23EC068</a:t>
            </a: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82120" marR="0" lvl="0" indent="-317880" algn="l" rtl="0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>
                <a:srgbClr val="000000"/>
              </a:buClr>
              <a:buSzPts val="1670"/>
              <a:buFont typeface="Calibri"/>
              <a:buAutoNum type="arabicPeriod"/>
            </a:pPr>
            <a:r>
              <a:rPr lang="en-US" sz="167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Kushal NS                     -1DB23EC081 </a:t>
            </a: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82120" marR="0" lvl="0" indent="-317880" algn="l" rtl="0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>
                <a:srgbClr val="000000"/>
              </a:buClr>
              <a:buSzPts val="1670"/>
              <a:buFont typeface="Calibri"/>
              <a:buAutoNum type="arabicPeriod"/>
            </a:pPr>
            <a:r>
              <a:rPr lang="en-US" sz="167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Navyashree S                 -1DB23EC103</a:t>
            </a: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82120" marR="0" lvl="0" indent="-317880" algn="l" rtl="0">
              <a:lnSpc>
                <a:spcPct val="100000"/>
              </a:lnSpc>
              <a:spcBef>
                <a:spcPts val="969"/>
              </a:spcBef>
              <a:spcAft>
                <a:spcPts val="0"/>
              </a:spcAft>
              <a:buClr>
                <a:srgbClr val="000000"/>
              </a:buClr>
              <a:buSzPts val="1670"/>
              <a:buFont typeface="Calibri"/>
              <a:buAutoNum type="arabicPeriod"/>
            </a:pPr>
            <a:r>
              <a:rPr lang="en-US" sz="167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Pallavi Y                         -1DB23EC108</a:t>
            </a:r>
            <a:endParaRPr sz="167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762000" y="57150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 &amp; ABSTRACT</a:t>
            </a:r>
            <a:endParaRPr sz="2800" b="1">
              <a:solidFill>
                <a:srgbClr val="11182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ASIC Implementation of Grain-128 Stream Cipher</a:t>
            </a:r>
            <a:endParaRPr sz="1200" b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4"/>
          <p:cNvGrpSpPr/>
          <p:nvPr/>
        </p:nvGrpSpPr>
        <p:grpSpPr>
          <a:xfrm>
            <a:off x="762000" y="1524000"/>
            <a:ext cx="3295800" cy="4381500"/>
            <a:chOff x="0" y="0"/>
            <a:chExt cx="3295800" cy="4381500"/>
          </a:xfrm>
        </p:grpSpPr>
        <p:sp>
          <p:nvSpPr>
            <p:cNvPr id="93" name="Google Shape;93;p14"/>
            <p:cNvSpPr/>
            <p:nvPr/>
          </p:nvSpPr>
          <p:spPr>
            <a:xfrm>
              <a:off x="0" y="0"/>
              <a:ext cx="3295800" cy="4381500"/>
            </a:xfrm>
            <a:prstGeom prst="roundRect">
              <a:avLst>
                <a:gd name="adj" fmla="val 3468"/>
              </a:avLst>
            </a:prstGeom>
            <a:solidFill>
              <a:srgbClr val="F9FAFB"/>
            </a:solidFill>
            <a:ln w="143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0" y="0"/>
              <a:ext cx="3295800" cy="438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 err="1">
                  <a:solidFill>
                    <a:srgbClr val="1E3A8A"/>
                  </a:solidFill>
                  <a:highlight>
                    <a:srgbClr val="EEF2F6"/>
                  </a:highlight>
                  <a:latin typeface="Times New Roman" panose="02020603050405020304" pitchFamily="18" charset="0"/>
                  <a:ea typeface="Material Icons"/>
                  <a:cs typeface="Times New Roman" panose="02020603050405020304" pitchFamily="18" charset="0"/>
                  <a:sym typeface="Material Icons"/>
                </a:rPr>
                <a:t>developer_board</a:t>
              </a:r>
              <a:endParaRPr sz="1200" dirty="0">
                <a:highlight>
                  <a:srgbClr val="EEF2F6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Design &amp; ASIC Flow</a:t>
              </a:r>
              <a:endParaRPr sz="1200" b="1" dirty="0">
                <a:solidFill>
                  <a:srgbClr val="1F293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Integrated </a:t>
              </a:r>
              <a:r>
                <a:rPr lang="en-US" sz="1200" b="1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LFSR-NFSR</a:t>
              </a: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based pseudorandom generator for the Grain-128 stream cipher.</a:t>
              </a:r>
              <a:endParaRPr sz="12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457200" lvl="0" indent="-295275" algn="l" rtl="0">
                <a:spcBef>
                  <a:spcPts val="120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Arial"/>
                <a:buChar char="●"/>
              </a:pP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Synthesized using 45nm </a:t>
              </a:r>
              <a:r>
                <a:rPr lang="en-US" sz="1200" dirty="0" err="1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NanGate</a:t>
              </a: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standard-cell technology.</a:t>
              </a:r>
              <a:endParaRPr sz="120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457200" lvl="0" indent="-295275" algn="l" rtl="0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Arial"/>
                <a:buChar char="●"/>
              </a:pP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Complete open-source RTL-to-GDSII digital flow.</a:t>
              </a:r>
              <a:endParaRPr sz="120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457200" lvl="0" indent="-295275" algn="l" rtl="0">
                <a:spcBef>
                  <a:spcPts val="750"/>
                </a:spcBef>
                <a:spcAft>
                  <a:spcPts val="750"/>
                </a:spcAft>
                <a:buClr>
                  <a:srgbClr val="4B5563"/>
                </a:buClr>
                <a:buSzPts val="1050"/>
                <a:buFont typeface="Arial"/>
                <a:buChar char="●"/>
              </a:pP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Utilized </a:t>
              </a:r>
              <a:r>
                <a:rPr lang="en-US" sz="1200" dirty="0" err="1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toolchain</a:t>
              </a: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including </a:t>
              </a:r>
              <a:r>
                <a:rPr lang="en-US" sz="1200" dirty="0" err="1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Yosys</a:t>
              </a: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, </a:t>
              </a:r>
              <a:r>
                <a:rPr lang="en-US" sz="1200" dirty="0" err="1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OpenROAD</a:t>
              </a: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, and </a:t>
              </a:r>
              <a:r>
                <a:rPr lang="en-US" sz="1200" dirty="0" err="1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OpenSTA</a:t>
              </a: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.</a:t>
              </a:r>
              <a:endParaRPr sz="120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grpSp>
        <p:nvGrpSpPr>
          <p:cNvPr id="95" name="Google Shape;95;p14"/>
          <p:cNvGrpSpPr/>
          <p:nvPr/>
        </p:nvGrpSpPr>
        <p:grpSpPr>
          <a:xfrm>
            <a:off x="4438650" y="1524000"/>
            <a:ext cx="3305250" cy="4381500"/>
            <a:chOff x="0" y="0"/>
            <a:chExt cx="3305250" cy="4381500"/>
          </a:xfrm>
        </p:grpSpPr>
        <p:sp>
          <p:nvSpPr>
            <p:cNvPr id="96" name="Google Shape;96;p14"/>
            <p:cNvSpPr/>
            <p:nvPr/>
          </p:nvSpPr>
          <p:spPr>
            <a:xfrm>
              <a:off x="0" y="0"/>
              <a:ext cx="3295800" cy="4381500"/>
            </a:xfrm>
            <a:prstGeom prst="roundRect">
              <a:avLst>
                <a:gd name="adj" fmla="val 3468"/>
              </a:avLst>
            </a:prstGeom>
            <a:solidFill>
              <a:srgbClr val="F9FAFB"/>
            </a:solidFill>
            <a:ln w="143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9450" y="0"/>
              <a:ext cx="3295800" cy="438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85750" tIns="285750" rIns="285750" bIns="2857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1D4ED8"/>
                  </a:solidFill>
                  <a:highlight>
                    <a:srgbClr val="EBF5FF"/>
                  </a:highlight>
                  <a:latin typeface="Times New Roman" panose="02020603050405020304" pitchFamily="18" charset="0"/>
                  <a:ea typeface="Material Icons"/>
                  <a:cs typeface="Times New Roman" panose="02020603050405020304" pitchFamily="18" charset="0"/>
                  <a:sym typeface="Material Icons"/>
                </a:rPr>
                <a:t>bolt</a:t>
              </a:r>
              <a:endParaRPr sz="1200" dirty="0">
                <a:highlight>
                  <a:srgbClr val="EBF5FF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Key Architecture</a:t>
              </a:r>
              <a:endParaRPr sz="1200" b="1" dirty="0">
                <a:solidFill>
                  <a:srgbClr val="1F293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Implementation of an </a:t>
              </a:r>
              <a:r>
                <a:rPr lang="en-US" sz="1200" b="1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8-bit parallel combinational unrolling</a:t>
              </a: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technique to resolve throughput limitations.</a:t>
              </a:r>
              <a:endParaRPr sz="12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457200" lvl="0" indent="-295275" algn="l" rtl="0">
                <a:spcBef>
                  <a:spcPts val="120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Arial"/>
                <a:buChar char="●"/>
              </a:pP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Achieves high-speed processing suitable for </a:t>
              </a:r>
              <a:r>
                <a:rPr lang="en-US" sz="1200" dirty="0" err="1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IoT</a:t>
              </a: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needs.</a:t>
              </a:r>
              <a:endParaRPr sz="120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457200" lvl="0" indent="-295275" algn="l" rtl="0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Arial"/>
                <a:buChar char="●"/>
              </a:pP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Boosts performance without causing a proportional area penalty.</a:t>
              </a:r>
              <a:endParaRPr sz="120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457200" lvl="0" indent="-295275" algn="l" rtl="0">
                <a:spcBef>
                  <a:spcPts val="750"/>
                </a:spcBef>
                <a:spcAft>
                  <a:spcPts val="750"/>
                </a:spcAft>
                <a:buClr>
                  <a:srgbClr val="4B5563"/>
                </a:buClr>
                <a:buSzPts val="1050"/>
                <a:buFont typeface="Arial"/>
                <a:buChar char="●"/>
              </a:pPr>
              <a:r>
                <a:rPr lang="en-US" sz="120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Tailored for resource-constrained edge-computing devices</a:t>
              </a:r>
              <a:r>
                <a:rPr lang="en-US" sz="1050" dirty="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050" dirty="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7934231" y="1333877"/>
            <a:ext cx="3295800" cy="4381500"/>
            <a:chOff x="0" y="0"/>
            <a:chExt cx="3295800" cy="4381500"/>
          </a:xfrm>
        </p:grpSpPr>
        <p:sp>
          <p:nvSpPr>
            <p:cNvPr id="99" name="Google Shape;99;p14"/>
            <p:cNvSpPr/>
            <p:nvPr/>
          </p:nvSpPr>
          <p:spPr>
            <a:xfrm>
              <a:off x="0" y="0"/>
              <a:ext cx="3295800" cy="4381500"/>
            </a:xfrm>
            <a:prstGeom prst="roundRect">
              <a:avLst>
                <a:gd name="adj" fmla="val 3468"/>
              </a:avLst>
            </a:prstGeom>
            <a:solidFill>
              <a:srgbClr val="F9FAFB"/>
            </a:solidFill>
            <a:ln w="14300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0" y="0"/>
              <a:ext cx="3295800" cy="438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285750" tIns="285750" rIns="285750" bIns="28575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rgbClr val="047857"/>
                  </a:solidFill>
                  <a:highlight>
                    <a:srgbClr val="ECFDF5"/>
                  </a:highlight>
                  <a:latin typeface="Times New Roman" panose="02020603050405020304" pitchFamily="18" charset="0"/>
                  <a:ea typeface="Material Icons"/>
                  <a:cs typeface="Times New Roman" panose="02020603050405020304" pitchFamily="18" charset="0"/>
                  <a:sym typeface="Material Icons"/>
                </a:rPr>
                <a:t>analytics</a:t>
              </a:r>
              <a:endParaRPr sz="1200" b="0" dirty="0">
                <a:solidFill>
                  <a:srgbClr val="047857"/>
                </a:solidFill>
                <a:latin typeface="Times New Roman" panose="02020603050405020304" pitchFamily="18" charset="0"/>
                <a:ea typeface="Material Icons"/>
                <a:cs typeface="Times New Roman" panose="02020603050405020304" pitchFamily="18" charset="0"/>
                <a:sym typeface="Material Icons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rgbClr val="1F2937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PPA Analysis</a:t>
              </a:r>
              <a:endParaRPr sz="1200" b="0" dirty="0">
                <a:solidFill>
                  <a:srgbClr val="047857"/>
                </a:solidFill>
                <a:latin typeface="Times New Roman" panose="02020603050405020304" pitchFamily="18" charset="0"/>
                <a:ea typeface="Material Icons"/>
                <a:cs typeface="Times New Roman" panose="02020603050405020304" pitchFamily="18" charset="0"/>
                <a:sym typeface="Material Icons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Rigorous </a:t>
              </a:r>
              <a:r>
                <a:rPr lang="en-US" sz="1200" b="1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Power, Performance, and Area (PPA)</a:t>
              </a: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characterization:</a:t>
              </a:r>
              <a:endParaRPr sz="1200" b="0" dirty="0">
                <a:solidFill>
                  <a:srgbClr val="047857"/>
                </a:solidFill>
                <a:latin typeface="Times New Roman" panose="02020603050405020304" pitchFamily="18" charset="0"/>
                <a:ea typeface="Material Icons"/>
                <a:cs typeface="Times New Roman" panose="02020603050405020304" pitchFamily="18" charset="0"/>
                <a:sym typeface="Material Icons"/>
              </a:endParaRPr>
            </a:p>
            <a:p>
              <a:pPr marL="457200" lvl="0" indent="-295275" algn="l" rtl="0">
                <a:spcBef>
                  <a:spcPts val="150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Arial"/>
                <a:buChar char="●"/>
              </a:pPr>
              <a:r>
                <a:rPr lang="en-US" sz="1200" b="1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Area:</a:t>
              </a: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2,375.91 µm²</a:t>
              </a:r>
              <a:endParaRPr sz="12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457200" lvl="0" indent="-295275" algn="l" rtl="0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Arial"/>
                <a:buChar char="●"/>
              </a:pPr>
              <a:r>
                <a:rPr lang="en-US" sz="1200" b="1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Power:</a:t>
              </a: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324 µW (1.38 </a:t>
              </a:r>
              <a:r>
                <a:rPr lang="en-US" sz="1200" b="0" dirty="0" err="1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mW</a:t>
              </a: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@ 500 MHz)</a:t>
              </a:r>
              <a:endParaRPr sz="12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457200" lvl="0" indent="-295275" algn="l" rtl="0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050"/>
                <a:buFont typeface="Arial"/>
                <a:buChar char="●"/>
              </a:pPr>
              <a:r>
                <a:rPr lang="en-US" sz="1200" b="1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Timing:</a:t>
              </a: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400–500 MHz (Max)</a:t>
              </a:r>
              <a:endParaRPr sz="12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  <a:p>
              <a:pPr marL="457200" lvl="0" indent="-295275" algn="l" rtl="0">
                <a:spcBef>
                  <a:spcPts val="750"/>
                </a:spcBef>
                <a:spcAft>
                  <a:spcPts val="750"/>
                </a:spcAft>
                <a:buClr>
                  <a:srgbClr val="4B5563"/>
                </a:buClr>
                <a:buSzPts val="1050"/>
                <a:buFont typeface="Arial"/>
                <a:buChar char="●"/>
              </a:pPr>
              <a:r>
                <a:rPr lang="en-US" sz="1200" b="1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Throughput:</a:t>
              </a:r>
              <a:r>
                <a:rPr lang="en-US" sz="1200" b="0" dirty="0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 4.0 </a:t>
              </a:r>
              <a:r>
                <a:rPr lang="en-US" sz="1200" b="0" dirty="0" err="1">
                  <a:solidFill>
                    <a:srgbClr val="4B556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Gbps</a:t>
              </a:r>
              <a:endParaRPr sz="12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5"/>
          <p:cNvGrpSpPr/>
          <p:nvPr/>
        </p:nvGrpSpPr>
        <p:grpSpPr>
          <a:xfrm>
            <a:off x="762000" y="571500"/>
            <a:ext cx="10668000" cy="762000"/>
            <a:chOff x="0" y="0"/>
            <a:chExt cx="10668000" cy="762000"/>
          </a:xfrm>
        </p:grpSpPr>
        <p:sp>
          <p:nvSpPr>
            <p:cNvPr id="106" name="Google Shape;106;p15"/>
            <p:cNvSpPr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0" y="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OBJECTIVES</a:t>
              </a:r>
              <a:endParaRPr sz="2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Key goals and milestones for the Grain-128 ASIC implementation</a:t>
              </a:r>
              <a:endParaRPr sz="1200" b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15"/>
          <p:cNvGrpSpPr/>
          <p:nvPr/>
        </p:nvGrpSpPr>
        <p:grpSpPr>
          <a:xfrm>
            <a:off x="671465" y="1524000"/>
            <a:ext cx="10668000" cy="800100"/>
            <a:chOff x="0" y="0"/>
            <a:chExt cx="10668000" cy="800100"/>
          </a:xfrm>
        </p:grpSpPr>
        <p:sp>
          <p:nvSpPr>
            <p:cNvPr id="109" name="Google Shape;109;p15"/>
            <p:cNvSpPr/>
            <p:nvPr/>
          </p:nvSpPr>
          <p:spPr>
            <a:xfrm>
              <a:off x="0" y="0"/>
              <a:ext cx="10668000" cy="800100"/>
            </a:xfrm>
            <a:prstGeom prst="roundRect">
              <a:avLst>
                <a:gd name="adj" fmla="val 11904"/>
              </a:avLst>
            </a:prstGeom>
            <a:solidFill>
              <a:srgbClr val="F9FAFB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228600" y="190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 txBox="1"/>
            <p:nvPr/>
          </p:nvSpPr>
          <p:spPr>
            <a:xfrm>
              <a:off x="228600" y="1905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300" b="1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876300" y="95250"/>
              <a:ext cx="9525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&amp; Implement:</a:t>
              </a:r>
              <a:r>
                <a:rPr lang="en-US" sz="1250" dirty="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Create the Grain-128 stream cipher architecture utilizing a combined LFSR-NFSR hardware structure.</a:t>
              </a:r>
              <a:endParaRPr sz="1250" dirty="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762000" y="2524125"/>
            <a:ext cx="10668000" cy="800100"/>
            <a:chOff x="0" y="0"/>
            <a:chExt cx="10668000" cy="800100"/>
          </a:xfrm>
        </p:grpSpPr>
        <p:sp>
          <p:nvSpPr>
            <p:cNvPr id="114" name="Google Shape;114;p15"/>
            <p:cNvSpPr/>
            <p:nvPr/>
          </p:nvSpPr>
          <p:spPr>
            <a:xfrm>
              <a:off x="0" y="0"/>
              <a:ext cx="10668000" cy="800100"/>
            </a:xfrm>
            <a:prstGeom prst="roundRect">
              <a:avLst>
                <a:gd name="adj" fmla="val 11904"/>
              </a:avLst>
            </a:prstGeom>
            <a:solidFill>
              <a:srgbClr val="F9FAFB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228600" y="190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rgbClr val="EBF5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 txBox="1"/>
            <p:nvPr/>
          </p:nvSpPr>
          <p:spPr>
            <a:xfrm>
              <a:off x="228600" y="1905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300" b="1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5"/>
            <p:cNvSpPr txBox="1"/>
            <p:nvPr/>
          </p:nvSpPr>
          <p:spPr>
            <a:xfrm>
              <a:off x="876300" y="95250"/>
              <a:ext cx="9525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Optimize Throughput:</a:t>
              </a:r>
              <a:r>
                <a:rPr lang="en-US" sz="125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Develop an 8-bit parallel combinational unrolling technique to resolve throughput limitations.</a:t>
              </a:r>
              <a:endParaRPr sz="12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15"/>
          <p:cNvGrpSpPr/>
          <p:nvPr/>
        </p:nvGrpSpPr>
        <p:grpSpPr>
          <a:xfrm>
            <a:off x="762000" y="3476625"/>
            <a:ext cx="10668000" cy="800100"/>
            <a:chOff x="0" y="0"/>
            <a:chExt cx="10668000" cy="800100"/>
          </a:xfrm>
        </p:grpSpPr>
        <p:sp>
          <p:nvSpPr>
            <p:cNvPr id="119" name="Google Shape;119;p15"/>
            <p:cNvSpPr/>
            <p:nvPr/>
          </p:nvSpPr>
          <p:spPr>
            <a:xfrm>
              <a:off x="0" y="0"/>
              <a:ext cx="10668000" cy="800100"/>
            </a:xfrm>
            <a:prstGeom prst="roundRect">
              <a:avLst>
                <a:gd name="adj" fmla="val 11904"/>
              </a:avLst>
            </a:prstGeom>
            <a:solidFill>
              <a:srgbClr val="F9FAFB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228600" y="190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rgbClr val="ECFDF5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228600" y="1905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047857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300" b="1">
                <a:solidFill>
                  <a:srgbClr val="04785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5"/>
            <p:cNvSpPr txBox="1"/>
            <p:nvPr/>
          </p:nvSpPr>
          <p:spPr>
            <a:xfrm>
              <a:off x="876300" y="95250"/>
              <a:ext cx="9525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ASIC Synthesis &amp; Physical Design:</a:t>
              </a:r>
              <a:r>
                <a:rPr lang="en-US" sz="125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Synthesize and place-and-route the design using 45nm NanGate technology cells.</a:t>
              </a:r>
              <a:endParaRPr sz="12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5"/>
          <p:cNvGrpSpPr/>
          <p:nvPr/>
        </p:nvGrpSpPr>
        <p:grpSpPr>
          <a:xfrm>
            <a:off x="762000" y="4429125"/>
            <a:ext cx="10668000" cy="800100"/>
            <a:chOff x="0" y="0"/>
            <a:chExt cx="10668000" cy="800100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10668000" cy="800100"/>
            </a:xfrm>
            <a:prstGeom prst="roundRect">
              <a:avLst>
                <a:gd name="adj" fmla="val 11904"/>
              </a:avLst>
            </a:prstGeom>
            <a:solidFill>
              <a:srgbClr val="F9FAFB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28600" y="190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 txBox="1"/>
            <p:nvPr/>
          </p:nvSpPr>
          <p:spPr>
            <a:xfrm>
              <a:off x="228600" y="1905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D97706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300" b="1">
                <a:solidFill>
                  <a:srgbClr val="D9770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5"/>
            <p:cNvSpPr txBox="1"/>
            <p:nvPr/>
          </p:nvSpPr>
          <p:spPr>
            <a:xfrm>
              <a:off x="876300" y="95250"/>
              <a:ext cx="9525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PPA Characterization:</a:t>
              </a:r>
              <a:r>
                <a:rPr lang="en-US" sz="125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Rigorously analyze the Power, Performance, and Area (PPA) characteristics of the completed ASIC layout.</a:t>
              </a:r>
              <a:endParaRPr sz="12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15"/>
          <p:cNvGrpSpPr/>
          <p:nvPr/>
        </p:nvGrpSpPr>
        <p:grpSpPr>
          <a:xfrm>
            <a:off x="762000" y="5381625"/>
            <a:ext cx="10668000" cy="800100"/>
            <a:chOff x="0" y="0"/>
            <a:chExt cx="10668000" cy="800100"/>
          </a:xfrm>
        </p:grpSpPr>
        <p:sp>
          <p:nvSpPr>
            <p:cNvPr id="129" name="Google Shape;129;p15"/>
            <p:cNvSpPr/>
            <p:nvPr/>
          </p:nvSpPr>
          <p:spPr>
            <a:xfrm>
              <a:off x="0" y="0"/>
              <a:ext cx="10668000" cy="800100"/>
            </a:xfrm>
            <a:prstGeom prst="roundRect">
              <a:avLst>
                <a:gd name="adj" fmla="val 11904"/>
              </a:avLst>
            </a:prstGeom>
            <a:solidFill>
              <a:srgbClr val="F9FAFB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228600" y="190500"/>
              <a:ext cx="419100" cy="419100"/>
            </a:xfrm>
            <a:prstGeom prst="roundRect">
              <a:avLst>
                <a:gd name="adj" fmla="val 50000"/>
              </a:avLst>
            </a:prstGeom>
            <a:solidFill>
              <a:srgbClr val="FCE7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 txBox="1"/>
            <p:nvPr/>
          </p:nvSpPr>
          <p:spPr>
            <a:xfrm>
              <a:off x="228600" y="190500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>
                  <a:solidFill>
                    <a:srgbClr val="DB2777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1300" b="1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876300" y="95250"/>
              <a:ext cx="9525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1182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Functional Verification:</a:t>
              </a:r>
              <a:r>
                <a:rPr lang="en-US" sz="1250">
                  <a:solidFill>
                    <a:srgbClr val="374151"/>
                  </a:solidFill>
                  <a:latin typeface="Arial"/>
                  <a:ea typeface="Arial"/>
                  <a:cs typeface="Arial"/>
                  <a:sym typeface="Arial"/>
                </a:rPr>
                <a:t> Verify logical correctness via comprehensive RTL simulation and benchmark against a serial baseline design.</a:t>
              </a:r>
              <a:endParaRPr sz="125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12700" cap="flat" cmpd="sng">
            <a:solidFill>
              <a:srgbClr val="B4B4B4"/>
            </a:solidFill>
            <a:prstDash val="solid"/>
            <a:round/>
            <a:headEnd type="none" w="sm" len="sm"/>
            <a:tailEnd type="none" w="sm" len="sm"/>
          </a:ln>
          <a:effectLst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48640" y="365760"/>
            <a:ext cx="109724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31520" y="1371600"/>
            <a:ext cx="10698120" cy="475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</a:t>
            </a:r>
            <a:r>
              <a:rPr lang="en-US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Modern </a:t>
            </a:r>
            <a:r>
              <a:rPr lang="en-US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IoT</a:t>
            </a:r>
            <a:r>
              <a:rPr lang="en-US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devices — RFID tags, smart cards, BLE sensors, coin-cell battery devices — are severely resource-constrained and cannot support power- and area-hungry ciphers such as AES.</a:t>
            </a:r>
            <a:endParaRPr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1"/>
              </a:spcBef>
              <a:spcAft>
                <a:spcPts val="0"/>
              </a:spcAft>
              <a:buNone/>
            </a:pPr>
            <a:r>
              <a:rPr lang="en-US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 Standard Grain-128 generates only 1 bit per clock cycle, resulting in low throughput that is unsuitable for higher-speed data-encryption needs.</a:t>
            </a:r>
            <a:endParaRPr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1"/>
              </a:spcBef>
              <a:spcAft>
                <a:spcPts val="0"/>
              </a:spcAft>
              <a:buNone/>
            </a:pPr>
            <a:r>
              <a:rPr lang="en-US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 There is a need for a lightweight, high-throughput stream-cipher architecture that is efficient enough for ASIC implementation in deep-submicron technology nodes.</a:t>
            </a:r>
            <a:endParaRPr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001"/>
              </a:spcBef>
              <a:spcAft>
                <a:spcPts val="0"/>
              </a:spcAft>
              <a:buNone/>
            </a:pPr>
            <a:r>
              <a:rPr lang="en-US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•  This project addresses the challenge of increasing Grain-128's throughput through parallel combinational unrolling, while keeping silicon area and power within </a:t>
            </a:r>
            <a:r>
              <a:rPr lang="en-US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IoT</a:t>
            </a:r>
            <a:r>
              <a:rPr lang="en-US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-friendly limits.</a:t>
            </a:r>
            <a:endParaRPr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762000" y="5715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800" b="1">
              <a:solidFill>
                <a:srgbClr val="11182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 Problem, the Challenge, and the Lightweight Solution</a:t>
            </a:r>
            <a:endParaRPr sz="1200" b="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p17"/>
          <p:cNvGrpSpPr/>
          <p:nvPr/>
        </p:nvGrpSpPr>
        <p:grpSpPr>
          <a:xfrm>
            <a:off x="762000" y="1714500"/>
            <a:ext cx="3295800" cy="4000500"/>
            <a:chOff x="0" y="0"/>
            <a:chExt cx="3295800" cy="4000500"/>
          </a:xfrm>
        </p:grpSpPr>
        <p:sp>
          <p:nvSpPr>
            <p:cNvPr id="146" name="Google Shape;146;p17"/>
            <p:cNvSpPr/>
            <p:nvPr/>
          </p:nvSpPr>
          <p:spPr>
            <a:xfrm>
              <a:off x="0" y="0"/>
              <a:ext cx="3295800" cy="4000500"/>
            </a:xfrm>
            <a:prstGeom prst="roundRect">
              <a:avLst>
                <a:gd name="adj" fmla="val 3468"/>
              </a:avLst>
            </a:prstGeom>
            <a:solidFill>
              <a:srgbClr val="F9FAFB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0" y="0"/>
              <a:ext cx="3295800" cy="5730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0" y="0"/>
              <a:ext cx="32958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600" tIns="285750" rIns="228600" bIns="2286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dirty="0">
                  <a:solidFill>
                    <a:srgbClr val="EF4444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Problem</a:t>
              </a:r>
              <a:endParaRPr sz="1600" b="0" dirty="0">
                <a:solidFill>
                  <a:srgbClr val="EF4444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rgbClr val="374151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Modern cryptography such as AES is highly secure, but it consumes significant silicon area and power — resources most embedded devices cannot spare.</a:t>
              </a:r>
              <a:endParaRPr sz="1200" b="0" dirty="0">
                <a:solidFill>
                  <a:srgbClr val="37415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4286250" y="1714500"/>
            <a:ext cx="3295800" cy="4000500"/>
            <a:chOff x="0" y="0"/>
            <a:chExt cx="3295800" cy="4000500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3295800" cy="4000500"/>
            </a:xfrm>
            <a:prstGeom prst="roundRect">
              <a:avLst>
                <a:gd name="adj" fmla="val 3468"/>
              </a:avLst>
            </a:prstGeom>
            <a:solidFill>
              <a:srgbClr val="F9FAFB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0" y="0"/>
              <a:ext cx="3295800" cy="573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0" y="0"/>
              <a:ext cx="32958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600" tIns="285750" rIns="228600" bIns="2286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dirty="0">
                  <a:solidFill>
                    <a:srgbClr val="F59E0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Challenge</a:t>
              </a:r>
              <a:endParaRPr sz="1600" b="0" dirty="0">
                <a:solidFill>
                  <a:srgbClr val="F59E0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rgbClr val="374151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Billions of resource-constrained </a:t>
              </a:r>
              <a:r>
                <a:rPr lang="en-US" sz="1200" b="0" dirty="0" err="1">
                  <a:solidFill>
                    <a:srgbClr val="374151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IoT</a:t>
              </a:r>
              <a:r>
                <a:rPr lang="en-US" sz="1200" b="0" dirty="0">
                  <a:solidFill>
                    <a:srgbClr val="374151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devices — RFID tags, smart cards, BLE sensors, coin-cell battery devices — simply cannot afford AES.</a:t>
              </a:r>
              <a:endParaRPr sz="1200" b="0" dirty="0">
                <a:solidFill>
                  <a:srgbClr val="37415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</p:txBody>
        </p:sp>
      </p:grpSp>
      <p:grpSp>
        <p:nvGrpSpPr>
          <p:cNvPr id="153" name="Google Shape;153;p17"/>
          <p:cNvGrpSpPr/>
          <p:nvPr/>
        </p:nvGrpSpPr>
        <p:grpSpPr>
          <a:xfrm>
            <a:off x="8115300" y="1714500"/>
            <a:ext cx="3295800" cy="4000500"/>
            <a:chOff x="0" y="0"/>
            <a:chExt cx="3295800" cy="4000500"/>
          </a:xfrm>
        </p:grpSpPr>
        <p:sp>
          <p:nvSpPr>
            <p:cNvPr id="154" name="Google Shape;154;p17"/>
            <p:cNvSpPr/>
            <p:nvPr/>
          </p:nvSpPr>
          <p:spPr>
            <a:xfrm>
              <a:off x="0" y="0"/>
              <a:ext cx="3295800" cy="4000500"/>
            </a:xfrm>
            <a:prstGeom prst="roundRect">
              <a:avLst>
                <a:gd name="adj" fmla="val 3468"/>
              </a:avLst>
            </a:prstGeom>
            <a:solidFill>
              <a:srgbClr val="F9FAFB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0" y="0"/>
              <a:ext cx="3295800" cy="573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7"/>
            <p:cNvSpPr txBox="1"/>
            <p:nvPr/>
          </p:nvSpPr>
          <p:spPr>
            <a:xfrm>
              <a:off x="0" y="0"/>
              <a:ext cx="32958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28600" tIns="285750" rIns="228600" bIns="2286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dirty="0">
                  <a:solidFill>
                    <a:srgbClr val="10B98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The Solution</a:t>
              </a:r>
              <a:endParaRPr sz="1600" b="0" dirty="0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just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rgbClr val="374151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Lightweight cryptography. We chose Grain-128, a stream cipher standardized by the European </a:t>
              </a:r>
              <a:r>
                <a:rPr lang="en-US" sz="1200" b="0" dirty="0" err="1">
                  <a:solidFill>
                    <a:srgbClr val="374151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eSTREAM</a:t>
              </a:r>
              <a:r>
                <a:rPr lang="en-US" sz="1200" b="0" dirty="0">
                  <a:solidFill>
                    <a:srgbClr val="374151"/>
                  </a:solidFill>
                  <a:latin typeface="Times New Roman" panose="02020603050405020304" pitchFamily="18" charset="0"/>
                  <a:ea typeface="Inter"/>
                  <a:cs typeface="Times New Roman" panose="02020603050405020304" pitchFamily="18" charset="0"/>
                  <a:sym typeface="Inter"/>
                </a:rPr>
                <a:t> project, delivering 128-bit security at a fraction of AES's resource cost.</a:t>
              </a:r>
              <a:endParaRPr sz="1200" b="0" dirty="0">
                <a:solidFill>
                  <a:srgbClr val="37415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METHODOLOGY</a:t>
            </a:r>
            <a:endParaRPr sz="2800" b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62" name="Google Shape;162;p18"/>
          <p:cNvGrpSpPr/>
          <p:nvPr/>
        </p:nvGrpSpPr>
        <p:grpSpPr>
          <a:xfrm>
            <a:off x="762000" y="1428750"/>
            <a:ext cx="2476500" cy="2190900"/>
            <a:chOff x="0" y="0"/>
            <a:chExt cx="2476500" cy="2190900"/>
          </a:xfrm>
        </p:grpSpPr>
        <p:sp>
          <p:nvSpPr>
            <p:cNvPr id="163" name="Google Shape;163;p18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190500" y="190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01</a:t>
              </a:r>
              <a:endParaRPr sz="2400" b="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Specification</a:t>
              </a:r>
              <a:endParaRPr sz="11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Study the Grain-128 specification, including its LFSR, NFSR, and non-linear filter function h(x).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6" name="Google Shape;166;p18"/>
          <p:cNvGrpSpPr/>
          <p:nvPr/>
        </p:nvGrpSpPr>
        <p:grpSpPr>
          <a:xfrm>
            <a:off x="3476625" y="1428750"/>
            <a:ext cx="2476500" cy="2190900"/>
            <a:chOff x="0" y="0"/>
            <a:chExt cx="2476500" cy="2190900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8"/>
            <p:cNvSpPr txBox="1"/>
            <p:nvPr/>
          </p:nvSpPr>
          <p:spPr>
            <a:xfrm>
              <a:off x="190500" y="190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02</a:t>
              </a:r>
              <a:endParaRPr sz="2400" b="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RTL Design</a:t>
              </a:r>
              <a:endParaRPr sz="11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Develop the RTL design of the cipher core in Verilog, including the 8-bit parallel unrolled datapath.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0" name="Google Shape;170;p18"/>
          <p:cNvGrpSpPr/>
          <p:nvPr/>
        </p:nvGrpSpPr>
        <p:grpSpPr>
          <a:xfrm>
            <a:off x="6191250" y="1428750"/>
            <a:ext cx="2476500" cy="2190900"/>
            <a:chOff x="0" y="0"/>
            <a:chExt cx="2476500" cy="2190900"/>
          </a:xfrm>
        </p:grpSpPr>
        <p:sp>
          <p:nvSpPr>
            <p:cNvPr id="171" name="Google Shape;171;p18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8"/>
            <p:cNvSpPr txBox="1"/>
            <p:nvPr/>
          </p:nvSpPr>
          <p:spPr>
            <a:xfrm>
              <a:off x="190500" y="190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03</a:t>
              </a:r>
              <a:endParaRPr sz="2400" b="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Verification</a:t>
              </a:r>
              <a:endParaRPr sz="11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Verify functional correctness through simulation using Icarus Verilog, viewing waveforms in GTKWave.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4" name="Google Shape;174;p18"/>
          <p:cNvGrpSpPr/>
          <p:nvPr/>
        </p:nvGrpSpPr>
        <p:grpSpPr>
          <a:xfrm>
            <a:off x="8905875" y="1428750"/>
            <a:ext cx="2476500" cy="2190900"/>
            <a:chOff x="0" y="0"/>
            <a:chExt cx="2476500" cy="2190900"/>
          </a:xfrm>
        </p:grpSpPr>
        <p:sp>
          <p:nvSpPr>
            <p:cNvPr id="175" name="Google Shape;175;p18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190500" y="190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04</a:t>
              </a:r>
              <a:endParaRPr sz="2400" b="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Logic Synthesis</a:t>
              </a:r>
              <a:endParaRPr sz="11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Synthesize the RTL to gate level using Yosys, mapped to the NanGate 45nm standard-cell library.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2114550" y="3905250"/>
            <a:ext cx="2476500" cy="2190900"/>
            <a:chOff x="0" y="0"/>
            <a:chExt cx="2476500" cy="2190900"/>
          </a:xfrm>
        </p:grpSpPr>
        <p:sp>
          <p:nvSpPr>
            <p:cNvPr id="179" name="Google Shape;179;p18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190500" y="190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05</a:t>
              </a:r>
              <a:endParaRPr sz="2400" b="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Physical Design</a:t>
              </a:r>
              <a:endParaRPr sz="11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Carry out physical design using OpenROAD: floorplanning, PDN, placement, and routing.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2" name="Google Shape;182;p18"/>
          <p:cNvGrpSpPr/>
          <p:nvPr/>
        </p:nvGrpSpPr>
        <p:grpSpPr>
          <a:xfrm>
            <a:off x="4857750" y="3905250"/>
            <a:ext cx="2476500" cy="2190900"/>
            <a:chOff x="0" y="0"/>
            <a:chExt cx="2476500" cy="2190900"/>
          </a:xfrm>
        </p:grpSpPr>
        <p:sp>
          <p:nvSpPr>
            <p:cNvPr id="183" name="Google Shape;183;p18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190500" y="190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06</a:t>
              </a:r>
              <a:endParaRPr sz="2400" b="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Timing Analysis</a:t>
              </a:r>
              <a:endParaRPr sz="11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Perform static timing analysis using OpenSTA to verify setup/hold slack and estimate power.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7600950" y="3905250"/>
            <a:ext cx="2476500" cy="2190900"/>
            <a:chOff x="0" y="0"/>
            <a:chExt cx="2476500" cy="2190900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0"/>
              <a:ext cx="24765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0" y="0"/>
              <a:ext cx="2476500" cy="573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8"/>
            <p:cNvSpPr txBox="1"/>
            <p:nvPr/>
          </p:nvSpPr>
          <p:spPr>
            <a:xfrm>
              <a:off x="190500" y="190500"/>
              <a:ext cx="20955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2563E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07</a:t>
              </a:r>
              <a:endParaRPr sz="2400" b="0">
                <a:solidFill>
                  <a:srgbClr val="2563E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PPA Extraction</a:t>
              </a:r>
              <a:endParaRPr sz="110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Extract PPA (Power, Performance, Area) metrics and compare with a 130nm serial baseline design.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12700" cap="flat" cmpd="sng">
            <a:solidFill>
              <a:srgbClr val="B4B4B4"/>
            </a:solidFill>
            <a:prstDash val="solid"/>
            <a:round/>
            <a:headEnd type="none" w="sm" len="sm"/>
            <a:tailEnd type="none" w="sm" len="sm"/>
          </a:ln>
          <a:effectLst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548640" y="365760"/>
            <a:ext cx="109724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SOFTWARE USED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731520" y="1371600"/>
            <a:ext cx="10698120" cy="475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Verilog HDL              </a:t>
            </a: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RTL design of the Grain-128 cipher core</a:t>
            </a:r>
            <a:endParaRPr sz="15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1500" b="1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Icarus Verilog           </a:t>
            </a: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RTL functional simulation and </a:t>
            </a:r>
            <a:r>
              <a:rPr lang="en-US" sz="1500" b="0" u="none" strike="noStrik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testbench</a:t>
            </a: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execution</a:t>
            </a:r>
            <a:endParaRPr sz="15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1500" b="1" u="none" strike="noStrik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GTKWave</a:t>
            </a:r>
            <a:r>
              <a:rPr lang="en-US" sz="1500" b="1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lang="en-US" sz="1500" b="0" u="none" strike="noStrik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Waveform </a:t>
            </a: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viewing and simulation debugging</a:t>
            </a:r>
            <a:endParaRPr sz="15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1500" b="1" u="none" strike="noStrik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Yosys</a:t>
            </a:r>
            <a:r>
              <a:rPr lang="en-US" sz="1500" b="1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</a:t>
            </a:r>
            <a:r>
              <a:rPr lang="en-US" sz="1500" b="1" u="none" strike="noStrik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1500" b="0" u="none" strike="noStrik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 </a:t>
            </a: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synthesis, mapped to </a:t>
            </a:r>
            <a:r>
              <a:rPr lang="en-US" sz="1500" b="0" u="none" strike="noStrik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NanGate</a:t>
            </a: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45nm standard cells</a:t>
            </a:r>
            <a:endParaRPr sz="15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1500" b="1" u="none" strike="noStrik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OpenROAD</a:t>
            </a:r>
            <a:r>
              <a:rPr lang="en-US" sz="1500" b="1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</a:t>
            </a:r>
            <a:r>
              <a:rPr lang="en-US" sz="1500" b="0" u="none" strike="noStrik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</a:t>
            </a: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— </a:t>
            </a:r>
            <a:r>
              <a:rPr lang="en-US" sz="1500" b="0" u="none" strike="noStrik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floorplanning</a:t>
            </a: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PDN, placement, and routing</a:t>
            </a:r>
            <a:endParaRPr sz="15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1500" b="1" u="none" strike="noStrik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OpenSTA</a:t>
            </a:r>
            <a:r>
              <a:rPr lang="en-US" sz="1500" b="1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  <a:r>
              <a:rPr lang="en-US" sz="1500" b="1" u="none" strike="noStrik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1500" b="0" u="none" strike="noStrik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</a:t>
            </a: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analysis and power estimation</a:t>
            </a:r>
            <a:endParaRPr sz="15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1500" b="1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/ Web Stack      </a:t>
            </a:r>
            <a:r>
              <a:rPr lang="en-US" sz="1500" b="0" u="none" strike="noStrik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</a:t>
            </a:r>
            <a:r>
              <a:rPr lang="en-US" sz="1500" b="0" u="none" strike="noStrik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web visualizer for the cipher</a:t>
            </a:r>
            <a:endParaRPr sz="15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12700" cap="flat" cmpd="sng">
            <a:solidFill>
              <a:srgbClr val="B4B4B4"/>
            </a:solidFill>
            <a:prstDash val="solid"/>
            <a:round/>
            <a:headEnd type="none" w="sm" len="sm"/>
            <a:tailEnd type="none" w="sm" len="sm"/>
          </a:ln>
          <a:effectLst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48640" y="365760"/>
            <a:ext cx="109724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CIPHER EQUATIONS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746640" y="1280160"/>
            <a:ext cx="10698120" cy="49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1. Encryption (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Ciphertext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C)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Ciphertext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= Plaintext XOR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Keystream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2. Decryption (Plaintext P)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Plaintext =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Ciphertext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XOR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Keystream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3.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Keystream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Generation (Z)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Z = h(x) XOR s34 XOR b125 XOR b112 XOR b91 XOR b82 XOR b63 XOR b54 XOR b38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4. Non-Linear Filter Function h(x)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h(x) = (s124 AND s102) XOR (s81 AND s63) XOR (s57 AND b118) XOR (b87 AND b79)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         XOR (s124 AND s57 AND b39)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5. LFSR Feedback (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L_fb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L_fb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= s127 XOR s120 XOR s89 XOR s57 XOR s46 XOR s31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6. NFSR Feedback (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N_fb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N_fb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= s127 XOR b127 XOR b101 XOR b71 XOR b36 XOR b31 XOR (b124 AND b60)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         XOR (b116 AND b114) XOR (b110 AND b109) XOR (b100 AND b68)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         XOR (b87 AND b79) XOR (b66 AND b62) XOR (b59 AND b43)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12700" cap="flat" cmpd="sng">
            <a:solidFill>
              <a:srgbClr val="B4B4B4"/>
            </a:solidFill>
            <a:prstDash val="solid"/>
            <a:round/>
            <a:headEnd type="none" w="sm" len="sm"/>
            <a:tailEnd type="none" w="sm" len="sm"/>
          </a:ln>
          <a:effectLst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548640" y="365760"/>
            <a:ext cx="109724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WORKED EXAMPLE — ENCRYPTING 'L'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32460" y="1264920"/>
            <a:ext cx="10698120" cy="475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Taking the first character of the verified test vector ‘LFSR NFSR 128BIT’, the encryption of the plaintext byte ‘L’ proceeds as follows: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Plaintext byte 'L'	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       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	</a:t>
            </a:r>
            <a:r>
              <a:rPr lang="en-US" sz="1600" b="0" u="none" strike="noStrike" dirty="0" smtClean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        01001100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	(0x4C)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Keystream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byte Z		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1600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   </a:t>
            </a:r>
            <a:r>
              <a:rPr lang="en-US" sz="1600" b="0" u="none" strike="noStrike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10000000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	(0x80)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Ciphertext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 = </a:t>
            </a:r>
            <a:r>
              <a:rPr lang="en-US" sz="1600" b="0" u="none" strike="noStrike" dirty="0" smtClean="0">
                <a:solidFill>
                  <a:schemeClr val="dk1"/>
                </a:solidFill>
                <a:latin typeface="Times New Roman" panose="02020603050405020304" pitchFamily="18" charset="0"/>
                <a:ea typeface="Courier New"/>
                <a:cs typeface="Times New Roman" panose="02020603050405020304" pitchFamily="18" charset="0"/>
                <a:sym typeface="Courier New"/>
              </a:rPr>
              <a:t>Plaintext XOR Z	      01001100  XOR  10000000  =  11001100	(0xCC)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Decrypted   =     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xor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z       11001100  XOR 10000000  =  01001100       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/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</a:b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Result: the computed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ciphertext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byte 0xCC exactly matches the first byte of the full 16-byte test-vector output verified in the Icarus Verilog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testbench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12700" cap="flat" cmpd="sng">
            <a:solidFill>
              <a:srgbClr val="B4B4B4"/>
            </a:solidFill>
            <a:prstDash val="solid"/>
            <a:round/>
            <a:headEnd type="none" w="sm" len="sm"/>
            <a:tailEnd type="none" w="sm" len="sm"/>
          </a:ln>
          <a:effectLst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548640" y="365760"/>
            <a:ext cx="109724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GTKWAVE SIMULATION OUTPUT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22" descr="media__178837451595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1280160"/>
            <a:ext cx="10359720" cy="393156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/>
          <p:nvPr/>
        </p:nvSpPr>
        <p:spPr>
          <a:xfrm>
            <a:off x="731520" y="5303520"/>
            <a:ext cx="10698120" cy="9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1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Signals: clk, enable, rst, plaintext[7:0], ciphertext[7:0], decrypted_text[7:0]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r>
              <a:rPr lang="en-US" sz="1300" b="0" i="1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Waveforms captured from the Icarus Verilog testbench were viewed in GTKWave to confirm correct bit-level timing of the LFSR/NFSR update, keystream generation, and XOR-based encryption on every clock edge.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AREA, POWER &amp; TIMING ANALYSIS</a:t>
            </a:r>
            <a:endParaRPr sz="2600" b="0">
              <a:solidFill>
                <a:srgbClr val="0F172A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224" name="Google Shape;224;p23"/>
          <p:cNvGrpSpPr/>
          <p:nvPr/>
        </p:nvGrpSpPr>
        <p:grpSpPr>
          <a:xfrm>
            <a:off x="762000" y="1238250"/>
            <a:ext cx="3362400" cy="1428900"/>
            <a:chOff x="0" y="0"/>
            <a:chExt cx="3362400" cy="1428900"/>
          </a:xfrm>
        </p:grpSpPr>
        <p:sp>
          <p:nvSpPr>
            <p:cNvPr id="225" name="Google Shape;225;p23"/>
            <p:cNvSpPr/>
            <p:nvPr/>
          </p:nvSpPr>
          <p:spPr>
            <a:xfrm>
              <a:off x="0" y="0"/>
              <a:ext cx="3362400" cy="14289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3"/>
            <p:cNvSpPr/>
            <p:nvPr/>
          </p:nvSpPr>
          <p:spPr>
            <a:xfrm>
              <a:off x="0" y="0"/>
              <a:ext cx="3362400" cy="573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3"/>
            <p:cNvSpPr txBox="1"/>
            <p:nvPr/>
          </p:nvSpPr>
          <p:spPr>
            <a:xfrm>
              <a:off x="190500" y="190500"/>
              <a:ext cx="29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AREA</a:t>
              </a:r>
              <a:endParaRPr sz="11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2,375.91 µm²</a:t>
              </a:r>
              <a:endParaRPr sz="24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Silicon core area</a:t>
              </a:r>
              <a:endParaRPr sz="110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28" name="Google Shape;228;p23"/>
          <p:cNvGrpSpPr/>
          <p:nvPr/>
        </p:nvGrpSpPr>
        <p:grpSpPr>
          <a:xfrm>
            <a:off x="4410075" y="1238250"/>
            <a:ext cx="3362400" cy="1428900"/>
            <a:chOff x="0" y="0"/>
            <a:chExt cx="3362400" cy="1428900"/>
          </a:xfrm>
        </p:grpSpPr>
        <p:sp>
          <p:nvSpPr>
            <p:cNvPr id="229" name="Google Shape;229;p23"/>
            <p:cNvSpPr/>
            <p:nvPr/>
          </p:nvSpPr>
          <p:spPr>
            <a:xfrm>
              <a:off x="0" y="0"/>
              <a:ext cx="3362400" cy="14289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0" y="0"/>
              <a:ext cx="3362400" cy="573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3"/>
            <p:cNvSpPr txBox="1"/>
            <p:nvPr/>
          </p:nvSpPr>
          <p:spPr>
            <a:xfrm>
              <a:off x="190500" y="190500"/>
              <a:ext cx="29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POWER</a:t>
              </a:r>
              <a:endParaRPr sz="11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20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324 µW </a:t>
              </a:r>
              <a:r>
                <a:rPr lang="en-US" sz="1200" b="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@ 1.1V</a:t>
              </a:r>
              <a:endParaRPr sz="22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1.38 mW @ 500 MHz (Total)</a:t>
              </a:r>
              <a:endParaRPr sz="110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32" name="Google Shape;232;p23"/>
          <p:cNvGrpSpPr/>
          <p:nvPr/>
        </p:nvGrpSpPr>
        <p:grpSpPr>
          <a:xfrm>
            <a:off x="8058150" y="1238250"/>
            <a:ext cx="3362400" cy="1428900"/>
            <a:chOff x="0" y="0"/>
            <a:chExt cx="3362400" cy="1428900"/>
          </a:xfrm>
        </p:grpSpPr>
        <p:sp>
          <p:nvSpPr>
            <p:cNvPr id="233" name="Google Shape;233;p23"/>
            <p:cNvSpPr/>
            <p:nvPr/>
          </p:nvSpPr>
          <p:spPr>
            <a:xfrm>
              <a:off x="0" y="0"/>
              <a:ext cx="3362400" cy="1428900"/>
            </a:xfrm>
            <a:prstGeom prst="roundRect">
              <a:avLst>
                <a:gd name="adj" fmla="val 8000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3"/>
            <p:cNvSpPr/>
            <p:nvPr/>
          </p:nvSpPr>
          <p:spPr>
            <a:xfrm>
              <a:off x="0" y="0"/>
              <a:ext cx="3362400" cy="573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3"/>
            <p:cNvSpPr txBox="1"/>
            <p:nvPr/>
          </p:nvSpPr>
          <p:spPr>
            <a:xfrm>
              <a:off x="190500" y="190500"/>
              <a:ext cx="2981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TIMING</a:t>
              </a:r>
              <a:endParaRPr sz="11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0F172A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400–500 MHz</a:t>
              </a:r>
              <a:endParaRPr sz="2400" b="0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Maximum achievable frequency</a:t>
              </a:r>
              <a:endParaRPr sz="1100" b="0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36" name="Google Shape;236;p23"/>
          <p:cNvGrpSpPr/>
          <p:nvPr/>
        </p:nvGrpSpPr>
        <p:grpSpPr>
          <a:xfrm>
            <a:off x="762000" y="2952750"/>
            <a:ext cx="5048400" cy="3333900"/>
            <a:chOff x="0" y="0"/>
            <a:chExt cx="5048400" cy="3333900"/>
          </a:xfrm>
        </p:grpSpPr>
        <p:sp>
          <p:nvSpPr>
            <p:cNvPr id="237" name="Google Shape;237;p23"/>
            <p:cNvSpPr/>
            <p:nvPr/>
          </p:nvSpPr>
          <p:spPr>
            <a:xfrm>
              <a:off x="0" y="0"/>
              <a:ext cx="50484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3"/>
            <p:cNvSpPr txBox="1"/>
            <p:nvPr/>
          </p:nvSpPr>
          <p:spPr>
            <a:xfrm>
              <a:off x="0" y="0"/>
              <a:ext cx="5048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Physical &amp; Cell Complexity</a:t>
              </a:r>
              <a:endParaRPr sz="14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1,106 total standard cells: 256 flip-flops (128 LFSR + 128 NFSR) and 850 combinational gates.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Core area extracted from OpenROAD floorplan after layout.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-US" sz="11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~2.8× smaller</a:t>
              </a: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than the 130nm serial baseline.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Power Distribution Breakup</a:t>
              </a:r>
              <a:endParaRPr sz="14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-US" sz="11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Sequential logic:</a:t>
              </a: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0.89 mW (64.4%)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-US" sz="11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Combinational logic:</a:t>
              </a: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0.49 mW (35.6%)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en-US" sz="1100" b="1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Leakage power:</a:t>
              </a: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0.047 mW (3.4%)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9" name="Google Shape;239;p23"/>
          <p:cNvGrpSpPr/>
          <p:nvPr/>
        </p:nvGrpSpPr>
        <p:grpSpPr>
          <a:xfrm>
            <a:off x="6381750" y="2952750"/>
            <a:ext cx="5048400" cy="3333900"/>
            <a:chOff x="0" y="0"/>
            <a:chExt cx="5048400" cy="3333900"/>
          </a:xfrm>
        </p:grpSpPr>
        <p:sp>
          <p:nvSpPr>
            <p:cNvPr id="240" name="Google Shape;240;p23"/>
            <p:cNvSpPr/>
            <p:nvPr/>
          </p:nvSpPr>
          <p:spPr>
            <a:xfrm>
              <a:off x="0" y="0"/>
              <a:ext cx="5048400" cy="3333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3"/>
            <p:cNvSpPr txBox="1"/>
            <p:nvPr/>
          </p:nvSpPr>
          <p:spPr>
            <a:xfrm>
              <a:off x="0" y="0"/>
              <a:ext cx="50484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Signoff &amp; Performance Metrics</a:t>
              </a:r>
              <a:endParaRPr sz="14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Achieved reliable performance boundaries through strict physical design verification flow:</a:t>
              </a:r>
              <a:endParaRPr sz="11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166534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Signoff Timing MET</a:t>
              </a:r>
              <a:endParaRPr sz="1200" b="1">
                <a:solidFill>
                  <a:srgbClr val="166534"/>
                </a:solidFill>
                <a:highlight>
                  <a:srgbClr val="F0FDF4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4532D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500 MHz</a:t>
              </a:r>
              <a:r>
                <a:rPr lang="en-US" sz="1100" b="0">
                  <a:solidFill>
                    <a:srgbClr val="14532D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 (2.0 ns clock period) with a setup slack of </a:t>
              </a:r>
              <a:r>
                <a:rPr lang="en-US" sz="1100" b="1">
                  <a:solidFill>
                    <a:srgbClr val="14532D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+0.85 ns</a:t>
              </a:r>
              <a:r>
                <a:rPr lang="en-US" sz="1100" b="0">
                  <a:solidFill>
                    <a:srgbClr val="14532D"/>
                  </a:solidFill>
                  <a:highlight>
                    <a:srgbClr val="F0FDF4"/>
                  </a:highlight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100" b="0">
                <a:solidFill>
                  <a:srgbClr val="14532D"/>
                </a:solidFill>
                <a:highlight>
                  <a:srgbClr val="F0FDF4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1E40AF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Throughput Optimized</a:t>
              </a:r>
              <a:endParaRPr sz="1200" b="1">
                <a:solidFill>
                  <a:srgbClr val="1E40AF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1E3A8A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Peak parallel data rate delivers up to </a:t>
              </a:r>
              <a:r>
                <a:rPr lang="en-US" sz="1100" b="1">
                  <a:solidFill>
                    <a:srgbClr val="1E3A8A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4.0 Gbps</a:t>
              </a:r>
              <a:r>
                <a:rPr lang="en-US" sz="1100" b="0">
                  <a:solidFill>
                    <a:srgbClr val="1E3A8A"/>
                  </a:solidFill>
                  <a:highlight>
                    <a:srgbClr val="EFF6FF"/>
                  </a:highlight>
                  <a:latin typeface="Inter"/>
                  <a:ea typeface="Inter"/>
                  <a:cs typeface="Inter"/>
                  <a:sym typeface="Inter"/>
                </a:rPr>
                <a:t> total throughput.</a:t>
              </a:r>
              <a:endParaRPr sz="1100" b="0">
                <a:solidFill>
                  <a:srgbClr val="1E3A8A"/>
                </a:solidFill>
                <a:highlight>
                  <a:srgbClr val="EFF6FF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12700" cap="flat" cmpd="sng">
            <a:solidFill>
              <a:srgbClr val="B4B4B4"/>
            </a:solidFill>
            <a:prstDash val="solid"/>
            <a:round/>
            <a:headEnd type="none" w="sm" len="sm"/>
            <a:tailEnd type="none" w="sm" len="sm"/>
          </a:ln>
          <a:effectLst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48640" y="365760"/>
            <a:ext cx="109724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LAYOUT DESIGN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24" descr="media__178837454209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" y="1280160"/>
            <a:ext cx="5943240" cy="475452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/>
          <p:nvPr/>
        </p:nvSpPr>
        <p:spPr>
          <a:xfrm>
            <a:off x="6858000" y="1371600"/>
            <a:ext cx="4571640" cy="457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Placement and routing view (OpenROAD, NanGate 45nm):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1400">
                <a:latin typeface="Arial"/>
                <a:ea typeface="Arial"/>
                <a:cs typeface="Arial"/>
                <a:sym typeface="Arial"/>
              </a:rPr>
            </a:b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Floorplanning, power delivery network, placement, and routing carried out using OpenROAD.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300" b="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Physical design closed with 0 DRC violations.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300" b="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6,808 routing vias used across the routed design.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300" b="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Core area: 2,375.91 µm² with 1,106 standard cells, on the NanGate 45nm library.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300" b="0" u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 Design signed off cleanly with +0.85 ns setup slack at 500 MHz.</a:t>
            </a:r>
            <a:endParaRPr sz="13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12700" cap="flat" cmpd="sng">
            <a:solidFill>
              <a:srgbClr val="B4B4B4"/>
            </a:solidFill>
            <a:prstDash val="solid"/>
            <a:round/>
            <a:headEnd type="none" w="sm" len="sm"/>
            <a:tailEnd type="none" w="sm" len="sm"/>
          </a:ln>
          <a:effectLst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48640" y="365760"/>
            <a:ext cx="109724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45nm PARALLEL vs 130nm SERIAL BASELINE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6" name="Google Shape;256;p25"/>
          <p:cNvGraphicFramePr/>
          <p:nvPr/>
        </p:nvGraphicFramePr>
        <p:xfrm>
          <a:off x="731520" y="1463040"/>
          <a:ext cx="10698500" cy="4389150"/>
        </p:xfrm>
        <a:graphic>
          <a:graphicData uri="http://schemas.openxmlformats.org/drawingml/2006/table">
            <a:tbl>
              <a:tblPr>
                <a:noFill/>
                <a:tableStyleId>{CEAC87D2-8C02-4DAC-9B2F-C3ED3F33642E}</a:tableStyleId>
              </a:tblPr>
              <a:tblGrid>
                <a:gridCol w="3200400"/>
                <a:gridCol w="3749050"/>
                <a:gridCol w="3749050"/>
              </a:tblGrid>
              <a:tr h="73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Design (45nm Parallel)</a:t>
                      </a:r>
                      <a:endParaRPr sz="1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 (130nm Serial)</a:t>
                      </a:r>
                      <a:endParaRPr sz="14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Architecture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bits / cycle (8× parallelism)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bit / cycle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Throughput @ 500 MHz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4,000 Mbps (4.0 Gbps)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 Mbps (@ 100 MHz)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Cycles per 128-bit block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 cycles (32 ns)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 cycles (160 ns)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Silicon area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2,376 µm² (2.5× smaller)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~6,000 µm²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Energy per 128-bit block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~26 nJ (25× lower)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~665 nJ</a:t>
                      </a:r>
                      <a:endParaRPr sz="13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/>
          <p:nvPr/>
        </p:nvSpPr>
        <p:spPr>
          <a:xfrm>
            <a:off x="488886" y="1213164"/>
            <a:ext cx="11211113" cy="5169996"/>
          </a:xfrm>
          <a:prstGeom prst="rect">
            <a:avLst/>
          </a:prstGeom>
          <a:noFill/>
          <a:ln w="12700" cap="flat" cmpd="sng">
            <a:solidFill>
              <a:srgbClr val="B4B4B4"/>
            </a:solidFill>
            <a:prstDash val="solid"/>
            <a:round/>
            <a:headEnd type="none" w="sm" len="sm"/>
            <a:tailEnd type="none" w="sm" len="sm"/>
          </a:ln>
          <a:effectLst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180000" y="199176"/>
            <a:ext cx="11880000" cy="59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RESEARCH LITERATURE COMPARISON (DEEP RESULT) </a:t>
            </a:r>
            <a:endParaRPr sz="2800" b="0" u="none" strike="noStrik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3" name="Google Shape;263;p26"/>
          <p:cNvGraphicFramePr/>
          <p:nvPr/>
        </p:nvGraphicFramePr>
        <p:xfrm>
          <a:off x="731520" y="1371600"/>
          <a:ext cx="10698125" cy="4844200"/>
        </p:xfrm>
        <a:graphic>
          <a:graphicData uri="http://schemas.openxmlformats.org/drawingml/2006/table">
            <a:tbl>
              <a:tblPr>
                <a:noFill/>
                <a:tableStyleId>{CEAC87D2-8C02-4DAC-9B2F-C3ED3F33642E}</a:tableStyleId>
              </a:tblPr>
              <a:tblGrid>
                <a:gridCol w="2011325"/>
                <a:gridCol w="2743200"/>
                <a:gridCol w="2743200"/>
                <a:gridCol w="3200400"/>
              </a:tblGrid>
              <a:tr h="60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Metric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 Paper (IEEE ISIT 2006)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Latest IEEE Paper (2024)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OUR PROPOSED DESIGN (45nm ASIC)</a:t>
                      </a:r>
                      <a:endParaRPr sz="110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6E6E6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Cipher Architecture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Serial execution (1 bit/cycle); 128 clock pulses required per 16-byte block.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Partial unrolling (4-bit/cycle or 32-bit blocks) with large area penalty.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8-Bit Parallel Unrolled datapath predicting 8 states ahead with 0 extra flip-flops.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Technology Node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Generic FPGA / 180nm CMOS model.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65nm Commercial CMOS process node.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NanGate 45nm OpenCell PDK (1.1V, typical corner, 10 metal layers).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Clock Speed &amp; Timing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 MHz target frequency (10.0 ns clock period).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350 MHz maximum achievable frequency (+0.20 ns setup slack).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 MHz (2.0 ns period) with +0.85 ns setup slack &amp; +0.05 ns hold slack (0 Violations).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Throughput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 Mbps (12.5 Megabytes/sec data rate).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2,800 Mbps = 2.8 Gbps (350 Megabytes/sec data rate).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4,000 Mbps = 4.0 Gbps (500 MB/s) — 42.8% Faster than 2024 literature!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16-Byte Latency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 nanoseconds total execution delay (128 cycles × 10ns).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 nanoseconds total execution delay.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 nanoseconds total execution delay (16 cycles × 2.0ns) — 28.8% Faster!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Silicon Die Core Area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Estimated ~0.005 mm² (~5,000 µm² silicon footprint).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0.0035 mm² (3,500 µm² core silicon area).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0.00237 mm² (2,375.91 µm² with 1,106 standard cells) — 32.1% Area Savings!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CF4"/>
                    </a:solidFill>
                  </a:tcPr>
                </a:tc>
              </a:tr>
              <a:tr h="605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Energy Efficiency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~665 nJ per 128-bit block.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~42.0 nJ per 128-bit block.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 b="1" u="none" strike="noStrike" cap="none">
                          <a:solidFill>
                            <a:srgbClr val="0096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1.38 mW total power (26.4 nJ/block) — 21% Race-to-Sleep energy savings for IoT.</a:t>
                      </a:r>
                      <a:endParaRPr sz="950" b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/>
          <p:nvPr/>
        </p:nvSpPr>
        <p:spPr>
          <a:xfrm>
            <a:off x="548640" y="365760"/>
            <a:ext cx="109725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9" name="Google Shape;269;p27"/>
          <p:cNvGrpSpPr/>
          <p:nvPr/>
        </p:nvGrpSpPr>
        <p:grpSpPr>
          <a:xfrm>
            <a:off x="571500" y="1428750"/>
            <a:ext cx="11049000" cy="4667400"/>
            <a:chOff x="571500" y="1428750"/>
            <a:chExt cx="11049000" cy="4667400"/>
          </a:xfrm>
        </p:grpSpPr>
        <p:grpSp>
          <p:nvGrpSpPr>
            <p:cNvPr id="270" name="Google Shape;270;p27"/>
            <p:cNvGrpSpPr/>
            <p:nvPr/>
          </p:nvGrpSpPr>
          <p:grpSpPr>
            <a:xfrm>
              <a:off x="571500" y="1428750"/>
              <a:ext cx="3429000" cy="4667400"/>
              <a:chOff x="0" y="0"/>
              <a:chExt cx="3429000" cy="4667400"/>
            </a:xfrm>
          </p:grpSpPr>
          <p:sp>
            <p:nvSpPr>
              <p:cNvPr id="271" name="Google Shape;271;p27"/>
              <p:cNvSpPr/>
              <p:nvPr/>
            </p:nvSpPr>
            <p:spPr>
              <a:xfrm>
                <a:off x="0" y="0"/>
                <a:ext cx="3429000" cy="4667400"/>
              </a:xfrm>
              <a:prstGeom prst="roundRect">
                <a:avLst>
                  <a:gd name="adj" fmla="val 2222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7"/>
              <p:cNvSpPr/>
              <p:nvPr/>
            </p:nvSpPr>
            <p:spPr>
              <a:xfrm>
                <a:off x="0" y="0"/>
                <a:ext cx="34290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2F5597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7"/>
              <p:cNvSpPr txBox="1"/>
              <p:nvPr/>
            </p:nvSpPr>
            <p:spPr>
              <a:xfrm>
                <a:off x="0" y="190500"/>
                <a:ext cx="3429000" cy="42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rgbClr val="2F5597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IMPLEMENTATION</a:t>
                </a:r>
                <a:endParaRPr sz="1800" b="1" dirty="0">
                  <a:solidFill>
                    <a:srgbClr val="2F5597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en-US" sz="1250" b="1" dirty="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 </a:t>
                </a:r>
                <a:r>
                  <a:rPr lang="en-US" sz="1250" b="1" dirty="0" err="1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NanGate</a:t>
                </a:r>
                <a:r>
                  <a:rPr lang="en-US" sz="1250" b="1" dirty="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45nm Stream Cipher</a:t>
                </a:r>
                <a:endParaRPr sz="1250" b="1" dirty="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142875" marR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1150" dirty="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Successfully implemented a high-throughput, low-area 8-bit parallel Grain-128 stream cipher ASIC.</a:t>
                </a:r>
                <a:endParaRPr sz="1150" dirty="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1875"/>
                  </a:spcBef>
                  <a:spcAft>
                    <a:spcPts val="0"/>
                  </a:spcAft>
                  <a:buNone/>
                </a:pPr>
                <a:r>
                  <a:rPr lang="en-US" sz="1250" b="1" dirty="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 8× Throughput Improvement</a:t>
                </a:r>
                <a:endParaRPr sz="1250" b="1" dirty="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142875" marR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1150" dirty="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Combinational unrolling achieves 4.0 </a:t>
                </a:r>
                <a:r>
                  <a:rPr lang="en-US" sz="1150" dirty="0" err="1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Gbps</a:t>
                </a:r>
                <a:r>
                  <a:rPr lang="en-US" sz="1150" dirty="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@ 500 MHz with only modest area overhead over the serial baseline.</a:t>
                </a:r>
                <a:endParaRPr sz="1150" dirty="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4" name="Google Shape;274;p27"/>
            <p:cNvGrpSpPr/>
            <p:nvPr/>
          </p:nvGrpSpPr>
          <p:grpSpPr>
            <a:xfrm>
              <a:off x="4381500" y="1428750"/>
              <a:ext cx="3429000" cy="4667400"/>
              <a:chOff x="0" y="0"/>
              <a:chExt cx="3429000" cy="4667400"/>
            </a:xfrm>
          </p:grpSpPr>
          <p:sp>
            <p:nvSpPr>
              <p:cNvPr id="275" name="Google Shape;275;p27"/>
              <p:cNvSpPr/>
              <p:nvPr/>
            </p:nvSpPr>
            <p:spPr>
              <a:xfrm>
                <a:off x="0" y="0"/>
                <a:ext cx="3429000" cy="4667400"/>
              </a:xfrm>
              <a:prstGeom prst="roundRect">
                <a:avLst>
                  <a:gd name="adj" fmla="val 2222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27"/>
              <p:cNvSpPr/>
              <p:nvPr/>
            </p:nvSpPr>
            <p:spPr>
              <a:xfrm>
                <a:off x="0" y="0"/>
                <a:ext cx="34290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096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27"/>
              <p:cNvSpPr txBox="1"/>
              <p:nvPr/>
            </p:nvSpPr>
            <p:spPr>
              <a:xfrm>
                <a:off x="0" y="190500"/>
                <a:ext cx="3429000" cy="42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>
                    <a:solidFill>
                      <a:srgbClr val="0096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PERFORMANCE</a:t>
                </a:r>
                <a:endParaRPr sz="1800" b="1">
                  <a:solidFill>
                    <a:srgbClr val="0096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 Clean Physical Sign-off</a:t>
                </a:r>
                <a:endParaRPr sz="1250" b="1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142875" marR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Physical design closed cleanly with 0 DRC violations and healthy timing margin (+0.85 ns setup slack at 500 MHz).</a:t>
                </a:r>
                <a:endParaRPr sz="11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1875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 Outperforming Literature</a:t>
                </a:r>
                <a:endParaRPr sz="1250" b="1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142875" marR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Outperforms published 2024 IEEE research by 42.8% in throughput and 32.1% in silicon area efficiency.</a:t>
                </a:r>
                <a:endParaRPr sz="11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278" name="Google Shape;278;p27"/>
            <p:cNvGrpSpPr/>
            <p:nvPr/>
          </p:nvGrpSpPr>
          <p:grpSpPr>
            <a:xfrm>
              <a:off x="8191500" y="1428750"/>
              <a:ext cx="3429000" cy="4667400"/>
              <a:chOff x="0" y="0"/>
              <a:chExt cx="3429000" cy="4667400"/>
            </a:xfrm>
          </p:grpSpPr>
          <p:sp>
            <p:nvSpPr>
              <p:cNvPr id="279" name="Google Shape;279;p27"/>
              <p:cNvSpPr/>
              <p:nvPr/>
            </p:nvSpPr>
            <p:spPr>
              <a:xfrm>
                <a:off x="0" y="0"/>
                <a:ext cx="3429000" cy="4667400"/>
              </a:xfrm>
              <a:prstGeom prst="roundRect">
                <a:avLst>
                  <a:gd name="adj" fmla="val 2222"/>
                </a:avLst>
              </a:prstGeom>
              <a:solidFill>
                <a:srgbClr val="F8FAFC"/>
              </a:solidFill>
              <a:ln w="14300" cap="flat" cmpd="sng">
                <a:solidFill>
                  <a:srgbClr val="E2E8F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7"/>
              <p:cNvSpPr/>
              <p:nvPr/>
            </p:nvSpPr>
            <p:spPr>
              <a:xfrm>
                <a:off x="0" y="0"/>
                <a:ext cx="34290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5B9BD5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7"/>
              <p:cNvSpPr txBox="1"/>
              <p:nvPr/>
            </p:nvSpPr>
            <p:spPr>
              <a:xfrm>
                <a:off x="0" y="190500"/>
                <a:ext cx="3429000" cy="428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190500" rIns="190500" bIns="1905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>
                    <a:solidFill>
                      <a:srgbClr val="2F5597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FUTURE &amp; IMPACT</a:t>
                </a:r>
                <a:endParaRPr sz="1800" b="1">
                  <a:solidFill>
                    <a:srgbClr val="2F5597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 IoT &amp; Edge Readiness</a:t>
                </a:r>
                <a:endParaRPr sz="1250" b="1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142875" marR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Highly suitable for resource-constrained environments where power and silicon area are severely limited.</a:t>
                </a:r>
                <a:endParaRPr sz="11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1875"/>
                  </a:spcBef>
                  <a:spcAft>
                    <a:spcPts val="0"/>
                  </a:spcAft>
                  <a:buNone/>
                </a:pPr>
                <a:r>
                  <a:rPr lang="en-US" sz="1250" b="1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• Technology Roadmap</a:t>
                </a:r>
                <a:endParaRPr sz="1250" b="1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142875" marR="0" lvl="0" indent="0" algn="l" rtl="0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lang="en-US" sz="1150">
                    <a:solidFill>
                      <a:srgbClr val="475569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Future scope includes porting to lower nodes (28nm, 7nm) and integrating logic masking as SCA countermeasures.</a:t>
                </a:r>
                <a:endParaRPr sz="1150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/>
          <p:nvPr/>
        </p:nvSpPr>
        <p:spPr>
          <a:xfrm>
            <a:off x="457200" y="1097280"/>
            <a:ext cx="11277000" cy="5303160"/>
          </a:xfrm>
          <a:prstGeom prst="rect">
            <a:avLst/>
          </a:prstGeom>
          <a:noFill/>
          <a:ln w="12700" cap="flat" cmpd="sng">
            <a:solidFill>
              <a:srgbClr val="B4B4B4"/>
            </a:solidFill>
            <a:prstDash val="solid"/>
            <a:round/>
            <a:headEnd type="none" w="sm" len="sm"/>
            <a:tailEnd type="none" w="sm" len="sm"/>
          </a:ln>
          <a:effectLst>
            <a:outerShdw blurRad="39960" dist="2304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8"/>
          <p:cNvSpPr/>
          <p:nvPr/>
        </p:nvSpPr>
        <p:spPr>
          <a:xfrm>
            <a:off x="548640" y="365760"/>
            <a:ext cx="10972440" cy="63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&amp; LITERATURE CITATIONS</a:t>
            </a:r>
            <a:endParaRPr sz="28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8"/>
          <p:cNvSpPr/>
          <p:nvPr/>
        </p:nvSpPr>
        <p:spPr>
          <a:xfrm>
            <a:off x="685800" y="1290320"/>
            <a:ext cx="10698120" cy="475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1. Primary Base Paper (IEEE ISIT): 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M. Hell, T. Johansson, and W. Meier, 'A Stream Cipher Proposal: Grain-128,' 2006 IEEE International Symposium on Information Theory (ISIT), DOI: 10.1109/ISIT.2006.261549.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600" b="1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2. Latest Benchmark Paper (IEEE TCAS 2024): 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'High-Throughput Parallel LFSR-NFSR Architecture for Lightweight Cryptographic Hardware Generators,' IEEE Transactions on Circuits and Systems (TCAS), 2024. </a:t>
            </a:r>
            <a:r>
              <a:rPr lang="en-US" sz="1600" b="0" u="none" strike="noStrike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DOI: 10.1109/TCSI.2024.3361201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600" b="1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3. Hardware Unrolling Paper (IEEE DSD): 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S.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Mansouri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and E.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Dubrova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'An Improved Hardware Implementation of the Grain Stream Cipher,'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Euromicro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Conference on Digital System Design (DSD), IEEE. DOI: 10.1109/DSD.2010.45.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600" b="1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4. ASIC VLSI Signoff Paper (IEEE TVLSI): 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J.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Sönnerup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M. Hell, and T. Johansson, 'Efficient Hardware Implementations of Grain-128AEAD,' IEEE Transactions on Very Large Scale Integration (VLSI) Systems. DOI: 10.1109/TVLSI.2020.2982424.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en-US" sz="1600" b="1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5. Open-Source PDK &amp; EDA Stack: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NanGate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45nm Open Cell Library PDK;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OpenROAD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EDA Suite &amp; </a:t>
            </a:r>
            <a:r>
              <a:rPr lang="en-US" sz="1600" b="0" u="none" strike="noStrike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Yosys</a:t>
            </a:r>
            <a:r>
              <a:rPr lang="en-US" sz="1600" b="0" u="none" strike="noStrike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Open Synthesis Suite.</a:t>
            </a:r>
            <a:endParaRPr sz="1600" b="0" u="none" strike="noStrik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"/>
          <p:cNvSpPr/>
          <p:nvPr/>
        </p:nvSpPr>
        <p:spPr>
          <a:xfrm>
            <a:off x="914400" y="2286000"/>
            <a:ext cx="10359720" cy="228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4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Questions &amp; Answers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1624</Words>
  <Application>Microsoft Office PowerPoint</Application>
  <PresentationFormat>Widescreen</PresentationFormat>
  <Paragraphs>212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Calibri</vt:lpstr>
      <vt:lpstr>Courier New</vt:lpstr>
      <vt:lpstr>Material Icons</vt:lpstr>
      <vt:lpstr>Times New Roman</vt:lpstr>
      <vt:lpstr>Inter Medium</vt:lpstr>
      <vt:lpstr>Arial</vt:lpstr>
      <vt:lpstr>Inter ExtraBold</vt:lpstr>
      <vt:lpstr>Inter</vt:lpstr>
      <vt:lpstr>Noto Sans Symbols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WIN10</dc:creator>
  <cp:lastModifiedBy>WIN10</cp:lastModifiedBy>
  <cp:revision>3</cp:revision>
  <dcterms:modified xsi:type="dcterms:W3CDTF">2026-09-03T12:00:43Z</dcterms:modified>
</cp:coreProperties>
</file>